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6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F3C7746-8274-4819-AF55-9AFC35FD5FFF}" type="datetimeFigureOut">
              <a:rPr lang="id-ID" smtClean="0"/>
              <a:t>30/04/2025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4491CCC-CD11-4180-856A-783D1E56A35E}" type="slidenum">
              <a:rPr lang="id-ID" smtClean="0"/>
              <a:t>‹#›</a:t>
            </a:fld>
            <a:endParaRPr lang="id-ID"/>
          </a:p>
        </p:txBody>
      </p:sp>
    </p:spTree>
    <p:extLst>
      <p:ext uri="{BB962C8B-B14F-4D97-AF65-F5344CB8AC3E}">
        <p14:creationId xmlns:p14="http://schemas.microsoft.com/office/powerpoint/2010/main" val="364045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3C7746-8274-4819-AF55-9AFC35FD5FFF}" type="datetimeFigureOut">
              <a:rPr lang="id-ID" smtClean="0"/>
              <a:t>30/04/2025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4491CCC-CD11-4180-856A-783D1E56A35E}" type="slidenum">
              <a:rPr lang="id-ID" smtClean="0"/>
              <a:t>‹#›</a:t>
            </a:fld>
            <a:endParaRPr lang="id-ID"/>
          </a:p>
        </p:txBody>
      </p:sp>
    </p:spTree>
    <p:extLst>
      <p:ext uri="{BB962C8B-B14F-4D97-AF65-F5344CB8AC3E}">
        <p14:creationId xmlns:p14="http://schemas.microsoft.com/office/powerpoint/2010/main" val="528583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3C7746-8274-4819-AF55-9AFC35FD5FFF}" type="datetimeFigureOut">
              <a:rPr lang="id-ID" smtClean="0"/>
              <a:t>30/04/2025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4491CCC-CD11-4180-856A-783D1E56A35E}" type="slidenum">
              <a:rPr lang="id-ID" smtClean="0"/>
              <a:t>‹#›</a:t>
            </a:fld>
            <a:endParaRPr lang="id-ID"/>
          </a:p>
        </p:txBody>
      </p:sp>
    </p:spTree>
    <p:extLst>
      <p:ext uri="{BB962C8B-B14F-4D97-AF65-F5344CB8AC3E}">
        <p14:creationId xmlns:p14="http://schemas.microsoft.com/office/powerpoint/2010/main" val="39089449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F3C7746-8274-4819-AF55-9AFC35FD5FFF}" type="datetimeFigureOut">
              <a:rPr lang="id-ID" smtClean="0"/>
              <a:t>30/04/2025</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84491CCC-CD11-4180-856A-783D1E56A35E}" type="slidenum">
              <a:rPr lang="id-ID" smtClean="0"/>
              <a:t>‹#›</a:t>
            </a:fld>
            <a:endParaRPr lang="id-ID"/>
          </a:p>
        </p:txBody>
      </p:sp>
    </p:spTree>
    <p:extLst>
      <p:ext uri="{BB962C8B-B14F-4D97-AF65-F5344CB8AC3E}">
        <p14:creationId xmlns:p14="http://schemas.microsoft.com/office/powerpoint/2010/main" val="4281723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F3C7746-8274-4819-AF55-9AFC35FD5FFF}" type="datetimeFigureOut">
              <a:rPr lang="id-ID" smtClean="0"/>
              <a:t>30/04/2025</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84491CCC-CD11-4180-856A-783D1E56A35E}" type="slidenum">
              <a:rPr lang="id-ID" smtClean="0"/>
              <a:t>‹#›</a:t>
            </a:fld>
            <a:endParaRPr lang="id-ID"/>
          </a:p>
        </p:txBody>
      </p:sp>
    </p:spTree>
    <p:extLst>
      <p:ext uri="{BB962C8B-B14F-4D97-AF65-F5344CB8AC3E}">
        <p14:creationId xmlns:p14="http://schemas.microsoft.com/office/powerpoint/2010/main" val="15121377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F3C7746-8274-4819-AF55-9AFC35FD5FFF}" type="datetimeFigureOut">
              <a:rPr lang="id-ID" smtClean="0"/>
              <a:t>30/04/2025</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84491CCC-CD11-4180-856A-783D1E56A35E}" type="slidenum">
              <a:rPr lang="id-ID" smtClean="0"/>
              <a:t>‹#›</a:t>
            </a:fld>
            <a:endParaRPr lang="id-ID"/>
          </a:p>
        </p:txBody>
      </p:sp>
    </p:spTree>
    <p:extLst>
      <p:ext uri="{BB962C8B-B14F-4D97-AF65-F5344CB8AC3E}">
        <p14:creationId xmlns:p14="http://schemas.microsoft.com/office/powerpoint/2010/main" val="3120382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3C7746-8274-4819-AF55-9AFC35FD5FFF}" type="datetimeFigureOut">
              <a:rPr lang="id-ID" smtClean="0"/>
              <a:t>30/04/2025</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84491CCC-CD11-4180-856A-783D1E56A35E}" type="slidenum">
              <a:rPr lang="id-ID" smtClean="0"/>
              <a:t>‹#›</a:t>
            </a:fld>
            <a:endParaRPr lang="id-ID"/>
          </a:p>
        </p:txBody>
      </p:sp>
    </p:spTree>
    <p:extLst>
      <p:ext uri="{BB962C8B-B14F-4D97-AF65-F5344CB8AC3E}">
        <p14:creationId xmlns:p14="http://schemas.microsoft.com/office/powerpoint/2010/main" val="1874070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3C7746-8274-4819-AF55-9AFC35FD5FFF}" type="datetimeFigureOut">
              <a:rPr lang="id-ID" smtClean="0"/>
              <a:t>30/04/2025</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84491CCC-CD11-4180-856A-783D1E56A35E}" type="slidenum">
              <a:rPr lang="id-ID" smtClean="0"/>
              <a:t>‹#›</a:t>
            </a:fld>
            <a:endParaRPr lang="id-ID"/>
          </a:p>
        </p:txBody>
      </p:sp>
    </p:spTree>
    <p:extLst>
      <p:ext uri="{BB962C8B-B14F-4D97-AF65-F5344CB8AC3E}">
        <p14:creationId xmlns:p14="http://schemas.microsoft.com/office/powerpoint/2010/main" val="2909635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3C7746-8274-4819-AF55-9AFC35FD5FFF}" type="datetimeFigureOut">
              <a:rPr lang="id-ID" smtClean="0"/>
              <a:t>30/04/2025</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84491CCC-CD11-4180-856A-783D1E56A35E}" type="slidenum">
              <a:rPr lang="id-ID" smtClean="0"/>
              <a:t>‹#›</a:t>
            </a:fld>
            <a:endParaRPr lang="id-ID"/>
          </a:p>
        </p:txBody>
      </p:sp>
    </p:spTree>
    <p:extLst>
      <p:ext uri="{BB962C8B-B14F-4D97-AF65-F5344CB8AC3E}">
        <p14:creationId xmlns:p14="http://schemas.microsoft.com/office/powerpoint/2010/main" val="3647350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3C7746-8274-4819-AF55-9AFC35FD5FFF}" type="datetimeFigureOut">
              <a:rPr lang="id-ID" smtClean="0"/>
              <a:t>30/04/2025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4491CCC-CD11-4180-856A-783D1E56A35E}" type="slidenum">
              <a:rPr lang="id-ID" smtClean="0"/>
              <a:t>‹#›</a:t>
            </a:fld>
            <a:endParaRPr lang="id-ID"/>
          </a:p>
        </p:txBody>
      </p:sp>
    </p:spTree>
    <p:extLst>
      <p:ext uri="{BB962C8B-B14F-4D97-AF65-F5344CB8AC3E}">
        <p14:creationId xmlns:p14="http://schemas.microsoft.com/office/powerpoint/2010/main" val="2098740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3C7746-8274-4819-AF55-9AFC35FD5FFF}" type="datetimeFigureOut">
              <a:rPr lang="id-ID" smtClean="0"/>
              <a:t>30/04/2025</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84491CCC-CD11-4180-856A-783D1E56A35E}" type="slidenum">
              <a:rPr lang="id-ID" smtClean="0"/>
              <a:t>‹#›</a:t>
            </a:fld>
            <a:endParaRPr lang="id-ID"/>
          </a:p>
        </p:txBody>
      </p:sp>
    </p:spTree>
    <p:extLst>
      <p:ext uri="{BB962C8B-B14F-4D97-AF65-F5344CB8AC3E}">
        <p14:creationId xmlns:p14="http://schemas.microsoft.com/office/powerpoint/2010/main" val="385645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3C7746-8274-4819-AF55-9AFC35FD5FFF}" type="datetimeFigureOut">
              <a:rPr lang="id-ID" smtClean="0"/>
              <a:t>30/04/2025</a:t>
            </a:fld>
            <a:endParaRPr lang="id-ID"/>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491CCC-CD11-4180-856A-783D1E56A35E}" type="slidenum">
              <a:rPr lang="id-ID" smtClean="0"/>
              <a:t>‹#›</a:t>
            </a:fld>
            <a:endParaRPr lang="id-ID"/>
          </a:p>
        </p:txBody>
      </p:sp>
    </p:spTree>
    <p:extLst>
      <p:ext uri="{BB962C8B-B14F-4D97-AF65-F5344CB8AC3E}">
        <p14:creationId xmlns:p14="http://schemas.microsoft.com/office/powerpoint/2010/main" val="144491144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73A4249-8EBF-41C5-A655-3000CF9E0A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88200" y="2170173"/>
            <a:ext cx="5003800" cy="4978400"/>
          </a:xfrm>
          <a:prstGeom prst="rect">
            <a:avLst/>
          </a:prstGeom>
        </p:spPr>
      </p:pic>
      <p:sp>
        <p:nvSpPr>
          <p:cNvPr id="6" name="Parallelogram 5">
            <a:extLst>
              <a:ext uri="{FF2B5EF4-FFF2-40B4-BE49-F238E27FC236}">
                <a16:creationId xmlns:a16="http://schemas.microsoft.com/office/drawing/2014/main" id="{9D3F2B49-57E7-40A3-8E5C-262D464A94D2}"/>
              </a:ext>
            </a:extLst>
          </p:cNvPr>
          <p:cNvSpPr/>
          <p:nvPr/>
        </p:nvSpPr>
        <p:spPr>
          <a:xfrm>
            <a:off x="10375233" y="986265"/>
            <a:ext cx="1636295" cy="2810577"/>
          </a:xfrm>
          <a:prstGeom prst="parallelogram">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id-ID"/>
          </a:p>
        </p:txBody>
      </p:sp>
      <p:sp>
        <p:nvSpPr>
          <p:cNvPr id="4" name="TextBox 3">
            <a:extLst>
              <a:ext uri="{FF2B5EF4-FFF2-40B4-BE49-F238E27FC236}">
                <a16:creationId xmlns:a16="http://schemas.microsoft.com/office/drawing/2014/main" id="{9E6A4794-A6B5-4DD2-9F36-986A506527E5}"/>
              </a:ext>
            </a:extLst>
          </p:cNvPr>
          <p:cNvSpPr txBox="1"/>
          <p:nvPr/>
        </p:nvSpPr>
        <p:spPr>
          <a:xfrm flipH="1">
            <a:off x="1816767" y="2088682"/>
            <a:ext cx="5777565" cy="3416320"/>
          </a:xfrm>
          <a:prstGeom prst="rect">
            <a:avLst/>
          </a:prstGeom>
          <a:noFill/>
        </p:spPr>
        <p:txBody>
          <a:bodyPr wrap="square" rtlCol="0">
            <a:spAutoFit/>
          </a:bodyPr>
          <a:lstStyle/>
          <a:p>
            <a:r>
              <a:rPr lang="id-ID" sz="7200" dirty="0">
                <a:latin typeface="Adobe Garamond Pro Bold" panose="02020702060506020403" pitchFamily="18" charset="0"/>
              </a:rPr>
              <a:t>WEB PENJUALAN TAS</a:t>
            </a:r>
            <a:r>
              <a:rPr lang="id-ID" dirty="0"/>
              <a:t> </a:t>
            </a:r>
          </a:p>
        </p:txBody>
      </p:sp>
      <p:sp>
        <p:nvSpPr>
          <p:cNvPr id="5" name="Parallelogram 4">
            <a:extLst>
              <a:ext uri="{FF2B5EF4-FFF2-40B4-BE49-F238E27FC236}">
                <a16:creationId xmlns:a16="http://schemas.microsoft.com/office/drawing/2014/main" id="{6AFDE749-1269-42D3-A90B-34B3BB6FF849}"/>
              </a:ext>
            </a:extLst>
          </p:cNvPr>
          <p:cNvSpPr/>
          <p:nvPr/>
        </p:nvSpPr>
        <p:spPr>
          <a:xfrm>
            <a:off x="10048775" y="-1193532"/>
            <a:ext cx="1337912" cy="3176336"/>
          </a:xfrm>
          <a:prstGeom prst="parallelogram">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id-ID"/>
          </a:p>
        </p:txBody>
      </p:sp>
    </p:spTree>
    <p:extLst>
      <p:ext uri="{BB962C8B-B14F-4D97-AF65-F5344CB8AC3E}">
        <p14:creationId xmlns:p14="http://schemas.microsoft.com/office/powerpoint/2010/main" val="4104170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F1E15-BF0C-4EA6-9A26-0908BA9F68DB}"/>
              </a:ext>
            </a:extLst>
          </p:cNvPr>
          <p:cNvSpPr>
            <a:spLocks noGrp="1"/>
          </p:cNvSpPr>
          <p:nvPr>
            <p:ph type="title"/>
          </p:nvPr>
        </p:nvSpPr>
        <p:spPr/>
        <p:txBody>
          <a:bodyPr/>
          <a:lstStyle/>
          <a:p>
            <a:r>
              <a:rPr lang="id-ID" dirty="0"/>
              <a:t>LATAR BELAKANG WEB PENJUALAN TAS </a:t>
            </a:r>
          </a:p>
        </p:txBody>
      </p:sp>
      <p:sp>
        <p:nvSpPr>
          <p:cNvPr id="4" name="TextBox 3">
            <a:extLst>
              <a:ext uri="{FF2B5EF4-FFF2-40B4-BE49-F238E27FC236}">
                <a16:creationId xmlns:a16="http://schemas.microsoft.com/office/drawing/2014/main" id="{458F6A05-A04E-4F48-BFF6-77D68C7D4D29}"/>
              </a:ext>
            </a:extLst>
          </p:cNvPr>
          <p:cNvSpPr txBox="1"/>
          <p:nvPr/>
        </p:nvSpPr>
        <p:spPr>
          <a:xfrm>
            <a:off x="639278" y="1599228"/>
            <a:ext cx="5456722" cy="2862322"/>
          </a:xfrm>
          <a:prstGeom prst="rect">
            <a:avLst/>
          </a:prstGeom>
          <a:noFill/>
        </p:spPr>
        <p:txBody>
          <a:bodyPr wrap="square">
            <a:spAutoFit/>
          </a:bodyPr>
          <a:lstStyle/>
          <a:p>
            <a:r>
              <a:rPr lang="id-ID" dirty="0"/>
              <a:t>Di era digital saat ini, perkembangan teknologi informasi telah mengubah perilaku konsumen dalam berbelanja. Banyak konsumen lebih memilih untuk berbelanja secara online karena dinilai lebih praktis, efisien, dan menghemat waktu. Melihat peluang tersebut, kami menghadirkan sebuah platform digital berupa website penjualan tas yang bertujuan untuk menjangkau pasar yang lebih luas serta memberikan kemudahan bagi konsumen dalam memilih dan membeli produk tas berkualitas</a:t>
            </a:r>
          </a:p>
        </p:txBody>
      </p:sp>
      <p:sp>
        <p:nvSpPr>
          <p:cNvPr id="6" name="TextBox 5">
            <a:extLst>
              <a:ext uri="{FF2B5EF4-FFF2-40B4-BE49-F238E27FC236}">
                <a16:creationId xmlns:a16="http://schemas.microsoft.com/office/drawing/2014/main" id="{7CEA2A2B-0DCB-40C7-AC34-FFB5DC7441A5}"/>
              </a:ext>
            </a:extLst>
          </p:cNvPr>
          <p:cNvSpPr txBox="1"/>
          <p:nvPr/>
        </p:nvSpPr>
        <p:spPr>
          <a:xfrm>
            <a:off x="5743875" y="4461550"/>
            <a:ext cx="6097604" cy="2031325"/>
          </a:xfrm>
          <a:prstGeom prst="rect">
            <a:avLst/>
          </a:prstGeom>
          <a:noFill/>
        </p:spPr>
        <p:txBody>
          <a:bodyPr wrap="square">
            <a:spAutoFit/>
          </a:bodyPr>
          <a:lstStyle/>
          <a:p>
            <a:r>
              <a:rPr lang="id-ID" dirty="0"/>
              <a:t>Website ini tidak hanya menampilkan produk-produk terbaru, tetapi juga memberikan informasi detail mengenai spesifikasi, harga, hingga ulasan pelanggan. Dengan adanya sistem transaksi online, pelanggan dapat melakukan pembelian dengan cepat dan aman. Melalui website ini, kami berharap dapat meningkatkan pengalaman belanja konsumen dan memperkuat branding produk kami di pasar digita</a:t>
            </a:r>
          </a:p>
        </p:txBody>
      </p:sp>
      <p:sp>
        <p:nvSpPr>
          <p:cNvPr id="7" name="Rectangle 6">
            <a:extLst>
              <a:ext uri="{FF2B5EF4-FFF2-40B4-BE49-F238E27FC236}">
                <a16:creationId xmlns:a16="http://schemas.microsoft.com/office/drawing/2014/main" id="{B396084F-09A4-4999-B31B-DEEDA4CAA570}"/>
              </a:ext>
            </a:extLst>
          </p:cNvPr>
          <p:cNvSpPr/>
          <p:nvPr/>
        </p:nvSpPr>
        <p:spPr>
          <a:xfrm>
            <a:off x="11001676" y="67377"/>
            <a:ext cx="2002055" cy="2156059"/>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id-ID"/>
          </a:p>
        </p:txBody>
      </p:sp>
      <p:sp>
        <p:nvSpPr>
          <p:cNvPr id="8" name="Rectangle 7">
            <a:extLst>
              <a:ext uri="{FF2B5EF4-FFF2-40B4-BE49-F238E27FC236}">
                <a16:creationId xmlns:a16="http://schemas.microsoft.com/office/drawing/2014/main" id="{318A4DF4-4962-4EE2-8213-77E65B057F66}"/>
              </a:ext>
            </a:extLst>
          </p:cNvPr>
          <p:cNvSpPr/>
          <p:nvPr/>
        </p:nvSpPr>
        <p:spPr>
          <a:xfrm>
            <a:off x="10192351" y="1318420"/>
            <a:ext cx="2002055" cy="215605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id-ID"/>
          </a:p>
        </p:txBody>
      </p:sp>
      <p:pic>
        <p:nvPicPr>
          <p:cNvPr id="10" name="Picture 9">
            <a:extLst>
              <a:ext uri="{FF2B5EF4-FFF2-40B4-BE49-F238E27FC236}">
                <a16:creationId xmlns:a16="http://schemas.microsoft.com/office/drawing/2014/main" id="{0A28870C-9652-4B34-821D-72A0C2EA9A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29990" y="1420680"/>
            <a:ext cx="2655379" cy="2655379"/>
          </a:xfrm>
          <a:prstGeom prst="rect">
            <a:avLst/>
          </a:prstGeom>
        </p:spPr>
      </p:pic>
    </p:spTree>
    <p:extLst>
      <p:ext uri="{BB962C8B-B14F-4D97-AF65-F5344CB8AC3E}">
        <p14:creationId xmlns:p14="http://schemas.microsoft.com/office/powerpoint/2010/main" val="3130333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iamond 12">
            <a:extLst>
              <a:ext uri="{FF2B5EF4-FFF2-40B4-BE49-F238E27FC236}">
                <a16:creationId xmlns:a16="http://schemas.microsoft.com/office/drawing/2014/main" id="{751C6C33-E140-43D7-BE2B-A7C80F5578A5}"/>
              </a:ext>
            </a:extLst>
          </p:cNvPr>
          <p:cNvSpPr/>
          <p:nvPr/>
        </p:nvSpPr>
        <p:spPr>
          <a:xfrm>
            <a:off x="6341107" y="-227522"/>
            <a:ext cx="1248076" cy="1391046"/>
          </a:xfrm>
          <a:prstGeom prst="diamond">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id-ID"/>
          </a:p>
        </p:txBody>
      </p:sp>
      <p:sp>
        <p:nvSpPr>
          <p:cNvPr id="2" name="Title 1">
            <a:extLst>
              <a:ext uri="{FF2B5EF4-FFF2-40B4-BE49-F238E27FC236}">
                <a16:creationId xmlns:a16="http://schemas.microsoft.com/office/drawing/2014/main" id="{56C6F485-F77E-4F51-9C07-DD718D004E53}"/>
              </a:ext>
            </a:extLst>
          </p:cNvPr>
          <p:cNvSpPr>
            <a:spLocks noGrp="1"/>
          </p:cNvSpPr>
          <p:nvPr>
            <p:ph type="title"/>
          </p:nvPr>
        </p:nvSpPr>
        <p:spPr/>
        <p:txBody>
          <a:bodyPr/>
          <a:lstStyle/>
          <a:p>
            <a:r>
              <a:rPr lang="id-ID" dirty="0"/>
              <a:t>Tujuan Web Penjualan Tas</a:t>
            </a:r>
          </a:p>
        </p:txBody>
      </p:sp>
      <p:sp>
        <p:nvSpPr>
          <p:cNvPr id="6" name="TextBox 5">
            <a:extLst>
              <a:ext uri="{FF2B5EF4-FFF2-40B4-BE49-F238E27FC236}">
                <a16:creationId xmlns:a16="http://schemas.microsoft.com/office/drawing/2014/main" id="{165E471E-C3A5-4C4F-8DEE-0B66A8316264}"/>
              </a:ext>
            </a:extLst>
          </p:cNvPr>
          <p:cNvSpPr txBox="1"/>
          <p:nvPr/>
        </p:nvSpPr>
        <p:spPr>
          <a:xfrm>
            <a:off x="729114" y="1987964"/>
            <a:ext cx="6097604" cy="1200329"/>
          </a:xfrm>
          <a:prstGeom prst="rect">
            <a:avLst/>
          </a:prstGeom>
          <a:noFill/>
        </p:spPr>
        <p:txBody>
          <a:bodyPr wrap="square">
            <a:spAutoFit/>
          </a:bodyPr>
          <a:lstStyle/>
          <a:p>
            <a:pPr marL="342900" indent="-342900">
              <a:buAutoNum type="arabicPeriod"/>
            </a:pPr>
            <a:r>
              <a:rPr lang="id-ID" dirty="0"/>
              <a:t>Meningkatkan jangkauan pasar</a:t>
            </a:r>
          </a:p>
          <a:p>
            <a:pPr marL="285750" indent="-285750">
              <a:buFont typeface="Wingdings" panose="05000000000000000000" pitchFamily="2" charset="2"/>
              <a:buChar char="§"/>
            </a:pPr>
            <a:r>
              <a:rPr lang="id-ID" dirty="0"/>
              <a:t>Menyediakan platform online agar produk tas dapat diakses oleh konsumen dari berbagai daerah tanpa batasan geografis.</a:t>
            </a:r>
          </a:p>
        </p:txBody>
      </p:sp>
      <p:sp>
        <p:nvSpPr>
          <p:cNvPr id="8" name="TextBox 7">
            <a:extLst>
              <a:ext uri="{FF2B5EF4-FFF2-40B4-BE49-F238E27FC236}">
                <a16:creationId xmlns:a16="http://schemas.microsoft.com/office/drawing/2014/main" id="{9B629295-E366-452C-8D6A-0EBD94600FEA}"/>
              </a:ext>
            </a:extLst>
          </p:cNvPr>
          <p:cNvSpPr txBox="1"/>
          <p:nvPr/>
        </p:nvSpPr>
        <p:spPr>
          <a:xfrm>
            <a:off x="729114" y="3669708"/>
            <a:ext cx="6097604" cy="1200329"/>
          </a:xfrm>
          <a:prstGeom prst="rect">
            <a:avLst/>
          </a:prstGeom>
          <a:noFill/>
        </p:spPr>
        <p:txBody>
          <a:bodyPr wrap="square">
            <a:spAutoFit/>
          </a:bodyPr>
          <a:lstStyle/>
          <a:p>
            <a:r>
              <a:rPr lang="id-ID" dirty="0"/>
              <a:t>2. Mempermudah proses pembelianMemberikan kemudahan bagi pelanggan dalam memilih, memesan, dan melakukan pembayaran secara online dengan sistem yang cepat dan aman.</a:t>
            </a:r>
          </a:p>
        </p:txBody>
      </p:sp>
      <p:sp>
        <p:nvSpPr>
          <p:cNvPr id="10" name="TextBox 9">
            <a:extLst>
              <a:ext uri="{FF2B5EF4-FFF2-40B4-BE49-F238E27FC236}">
                <a16:creationId xmlns:a16="http://schemas.microsoft.com/office/drawing/2014/main" id="{37A523E5-BB51-45E4-8201-FDDD8FD1AFA7}"/>
              </a:ext>
            </a:extLst>
          </p:cNvPr>
          <p:cNvSpPr txBox="1"/>
          <p:nvPr/>
        </p:nvSpPr>
        <p:spPr>
          <a:xfrm>
            <a:off x="729114" y="5462684"/>
            <a:ext cx="6097604" cy="923330"/>
          </a:xfrm>
          <a:prstGeom prst="rect">
            <a:avLst/>
          </a:prstGeom>
          <a:noFill/>
        </p:spPr>
        <p:txBody>
          <a:bodyPr wrap="square">
            <a:spAutoFit/>
          </a:bodyPr>
          <a:lstStyle/>
          <a:p>
            <a:r>
              <a:rPr lang="id-ID" dirty="0"/>
              <a:t>3. Meningkatkan penjualan dan pendapatanDengan hadir secara digital, diharapkan terjadi peningkatan transaksi yang berkontribusi langsung pada pertumbuhan bisnis.</a:t>
            </a:r>
          </a:p>
        </p:txBody>
      </p:sp>
      <p:pic>
        <p:nvPicPr>
          <p:cNvPr id="12" name="Picture 11">
            <a:extLst>
              <a:ext uri="{FF2B5EF4-FFF2-40B4-BE49-F238E27FC236}">
                <a16:creationId xmlns:a16="http://schemas.microsoft.com/office/drawing/2014/main" id="{87ADF44E-7D65-479A-A033-54F1DB4ED5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1825" y="150575"/>
            <a:ext cx="4959754" cy="6556849"/>
          </a:xfrm>
          <a:prstGeom prst="rect">
            <a:avLst/>
          </a:prstGeom>
        </p:spPr>
      </p:pic>
    </p:spTree>
    <p:extLst>
      <p:ext uri="{BB962C8B-B14F-4D97-AF65-F5344CB8AC3E}">
        <p14:creationId xmlns:p14="http://schemas.microsoft.com/office/powerpoint/2010/main" val="1934599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Parallelogram 9">
            <a:extLst>
              <a:ext uri="{FF2B5EF4-FFF2-40B4-BE49-F238E27FC236}">
                <a16:creationId xmlns:a16="http://schemas.microsoft.com/office/drawing/2014/main" id="{CC695FE1-841A-4EB0-A593-BFB0B3E5C396}"/>
              </a:ext>
            </a:extLst>
          </p:cNvPr>
          <p:cNvSpPr/>
          <p:nvPr/>
        </p:nvSpPr>
        <p:spPr>
          <a:xfrm>
            <a:off x="8412480" y="1794764"/>
            <a:ext cx="1068404" cy="3051208"/>
          </a:xfrm>
          <a:prstGeom prst="parallelogram">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id-ID"/>
          </a:p>
        </p:txBody>
      </p:sp>
      <p:sp>
        <p:nvSpPr>
          <p:cNvPr id="9" name="Parallelogram 8">
            <a:extLst>
              <a:ext uri="{FF2B5EF4-FFF2-40B4-BE49-F238E27FC236}">
                <a16:creationId xmlns:a16="http://schemas.microsoft.com/office/drawing/2014/main" id="{EB8360D9-6A06-4DED-86A2-53D618B29675}"/>
              </a:ext>
            </a:extLst>
          </p:cNvPr>
          <p:cNvSpPr/>
          <p:nvPr/>
        </p:nvSpPr>
        <p:spPr>
          <a:xfrm>
            <a:off x="8412480" y="-430557"/>
            <a:ext cx="1155032" cy="3315555"/>
          </a:xfrm>
          <a:prstGeom prst="parallelogram">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id-ID"/>
          </a:p>
        </p:txBody>
      </p:sp>
      <p:sp>
        <p:nvSpPr>
          <p:cNvPr id="4" name="TextBox 3">
            <a:extLst>
              <a:ext uri="{FF2B5EF4-FFF2-40B4-BE49-F238E27FC236}">
                <a16:creationId xmlns:a16="http://schemas.microsoft.com/office/drawing/2014/main" id="{8C7122D0-4317-4AD6-A89D-2189939B72F5}"/>
              </a:ext>
            </a:extLst>
          </p:cNvPr>
          <p:cNvSpPr txBox="1"/>
          <p:nvPr/>
        </p:nvSpPr>
        <p:spPr>
          <a:xfrm>
            <a:off x="806116" y="871434"/>
            <a:ext cx="6097604" cy="923330"/>
          </a:xfrm>
          <a:prstGeom prst="rect">
            <a:avLst/>
          </a:prstGeom>
          <a:noFill/>
        </p:spPr>
        <p:txBody>
          <a:bodyPr wrap="square">
            <a:spAutoFit/>
          </a:bodyPr>
          <a:lstStyle/>
          <a:p>
            <a:r>
              <a:rPr lang="id-ID" dirty="0"/>
              <a:t>4. Membangun brand awarenessMemperkenalkan identitas dan kualitas produk tas kepada khalayak luas melalui tampilan visual dan informasi yang menarik di website</a:t>
            </a:r>
          </a:p>
        </p:txBody>
      </p:sp>
      <p:sp>
        <p:nvSpPr>
          <p:cNvPr id="6" name="TextBox 5">
            <a:extLst>
              <a:ext uri="{FF2B5EF4-FFF2-40B4-BE49-F238E27FC236}">
                <a16:creationId xmlns:a16="http://schemas.microsoft.com/office/drawing/2014/main" id="{26AA8C8C-A577-48C9-B2BF-21EF844D36BA}"/>
              </a:ext>
            </a:extLst>
          </p:cNvPr>
          <p:cNvSpPr txBox="1"/>
          <p:nvPr/>
        </p:nvSpPr>
        <p:spPr>
          <a:xfrm>
            <a:off x="892743" y="2700233"/>
            <a:ext cx="6097604" cy="923330"/>
          </a:xfrm>
          <a:prstGeom prst="rect">
            <a:avLst/>
          </a:prstGeom>
          <a:noFill/>
        </p:spPr>
        <p:txBody>
          <a:bodyPr wrap="square">
            <a:spAutoFit/>
          </a:bodyPr>
          <a:lstStyle/>
          <a:p>
            <a:r>
              <a:rPr lang="id-ID" dirty="0"/>
              <a:t>5. Memberikan layanan pelanggan yang lebih baikMenyediakan informasi produk, kontak layanan, serta fitur ulasan pelanggan untuk membangun kepercayaan dan kepuasan konsumen.</a:t>
            </a:r>
          </a:p>
        </p:txBody>
      </p:sp>
      <p:pic>
        <p:nvPicPr>
          <p:cNvPr id="8" name="Picture 7">
            <a:extLst>
              <a:ext uri="{FF2B5EF4-FFF2-40B4-BE49-F238E27FC236}">
                <a16:creationId xmlns:a16="http://schemas.microsoft.com/office/drawing/2014/main" id="{F1D85793-6C26-4DC4-87DA-B60E02BA6F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01782" y="0"/>
            <a:ext cx="2990218" cy="6858000"/>
          </a:xfrm>
          <a:prstGeom prst="rect">
            <a:avLst/>
          </a:prstGeom>
        </p:spPr>
      </p:pic>
    </p:spTree>
    <p:extLst>
      <p:ext uri="{BB962C8B-B14F-4D97-AF65-F5344CB8AC3E}">
        <p14:creationId xmlns:p14="http://schemas.microsoft.com/office/powerpoint/2010/main" val="3632667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arallelogram 11">
            <a:extLst>
              <a:ext uri="{FF2B5EF4-FFF2-40B4-BE49-F238E27FC236}">
                <a16:creationId xmlns:a16="http://schemas.microsoft.com/office/drawing/2014/main" id="{5F9DC747-8789-4381-BF0F-02D08F680730}"/>
              </a:ext>
            </a:extLst>
          </p:cNvPr>
          <p:cNvSpPr/>
          <p:nvPr/>
        </p:nvSpPr>
        <p:spPr>
          <a:xfrm>
            <a:off x="4129238" y="4336534"/>
            <a:ext cx="1241659" cy="2627344"/>
          </a:xfrm>
          <a:prstGeom prst="parallelogram">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id-ID"/>
          </a:p>
        </p:txBody>
      </p:sp>
      <p:sp>
        <p:nvSpPr>
          <p:cNvPr id="11" name="Parallelogram 10">
            <a:extLst>
              <a:ext uri="{FF2B5EF4-FFF2-40B4-BE49-F238E27FC236}">
                <a16:creationId xmlns:a16="http://schemas.microsoft.com/office/drawing/2014/main" id="{7ABE1079-FC98-4FF8-9F19-316B1FB9F45A}"/>
              </a:ext>
            </a:extLst>
          </p:cNvPr>
          <p:cNvSpPr/>
          <p:nvPr/>
        </p:nvSpPr>
        <p:spPr>
          <a:xfrm>
            <a:off x="4129238" y="1097280"/>
            <a:ext cx="1155032" cy="3570973"/>
          </a:xfrm>
          <a:prstGeom prst="parallelogram">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id-ID"/>
          </a:p>
        </p:txBody>
      </p:sp>
      <p:sp>
        <p:nvSpPr>
          <p:cNvPr id="2" name="Title 1">
            <a:extLst>
              <a:ext uri="{FF2B5EF4-FFF2-40B4-BE49-F238E27FC236}">
                <a16:creationId xmlns:a16="http://schemas.microsoft.com/office/drawing/2014/main" id="{FB5B2502-94B0-45E3-9417-C53AB33A7318}"/>
              </a:ext>
            </a:extLst>
          </p:cNvPr>
          <p:cNvSpPr>
            <a:spLocks noGrp="1"/>
          </p:cNvSpPr>
          <p:nvPr>
            <p:ph type="title"/>
          </p:nvPr>
        </p:nvSpPr>
        <p:spPr>
          <a:xfrm>
            <a:off x="4706754" y="365125"/>
            <a:ext cx="6647046" cy="626277"/>
          </a:xfrm>
        </p:spPr>
        <p:txBody>
          <a:bodyPr>
            <a:normAutofit fontScale="90000"/>
          </a:bodyPr>
          <a:lstStyle/>
          <a:p>
            <a:r>
              <a:rPr lang="id-ID" dirty="0"/>
              <a:t>Manfaat Web Penjualan Tas</a:t>
            </a:r>
          </a:p>
        </p:txBody>
      </p:sp>
      <p:sp>
        <p:nvSpPr>
          <p:cNvPr id="4" name="TextBox 3">
            <a:extLst>
              <a:ext uri="{FF2B5EF4-FFF2-40B4-BE49-F238E27FC236}">
                <a16:creationId xmlns:a16="http://schemas.microsoft.com/office/drawing/2014/main" id="{6DA10168-18F2-4A1A-B9ED-7D973A458DEC}"/>
              </a:ext>
            </a:extLst>
          </p:cNvPr>
          <p:cNvSpPr txBox="1"/>
          <p:nvPr/>
        </p:nvSpPr>
        <p:spPr>
          <a:xfrm>
            <a:off x="5862587" y="1286871"/>
            <a:ext cx="6097604" cy="923330"/>
          </a:xfrm>
          <a:prstGeom prst="rect">
            <a:avLst/>
          </a:prstGeom>
          <a:noFill/>
        </p:spPr>
        <p:txBody>
          <a:bodyPr wrap="square">
            <a:spAutoFit/>
          </a:bodyPr>
          <a:lstStyle/>
          <a:p>
            <a:pPr marL="342900" indent="-342900">
              <a:buAutoNum type="arabicPeriod"/>
            </a:pPr>
            <a:r>
              <a:rPr lang="id-ID" dirty="0"/>
              <a:t>Aksesibilitas 24/7</a:t>
            </a:r>
          </a:p>
          <a:p>
            <a:pPr marL="285750" indent="-285750">
              <a:buFont typeface="Arial" panose="020B0604020202020204" pitchFamily="34" charset="0"/>
              <a:buChar char="•"/>
            </a:pPr>
            <a:r>
              <a:rPr lang="id-ID" dirty="0"/>
              <a:t>Website memungkinkan pelanggan melihat dan membeli produk kapan saja tanpa batasan waktu operasional.</a:t>
            </a:r>
          </a:p>
        </p:txBody>
      </p:sp>
      <p:sp>
        <p:nvSpPr>
          <p:cNvPr id="6" name="TextBox 5">
            <a:extLst>
              <a:ext uri="{FF2B5EF4-FFF2-40B4-BE49-F238E27FC236}">
                <a16:creationId xmlns:a16="http://schemas.microsoft.com/office/drawing/2014/main" id="{195A354E-7618-47DB-B6F6-E624DB6B217B}"/>
              </a:ext>
            </a:extLst>
          </p:cNvPr>
          <p:cNvSpPr txBox="1"/>
          <p:nvPr/>
        </p:nvSpPr>
        <p:spPr>
          <a:xfrm>
            <a:off x="5766334" y="3030327"/>
            <a:ext cx="6097604" cy="1200329"/>
          </a:xfrm>
          <a:prstGeom prst="rect">
            <a:avLst/>
          </a:prstGeom>
          <a:noFill/>
        </p:spPr>
        <p:txBody>
          <a:bodyPr wrap="square">
            <a:spAutoFit/>
          </a:bodyPr>
          <a:lstStyle/>
          <a:p>
            <a:r>
              <a:rPr lang="id-ID" dirty="0"/>
              <a:t>2. Promosi yang lebih efektif</a:t>
            </a:r>
          </a:p>
          <a:p>
            <a:pPr marL="285750" indent="-285750">
              <a:buFont typeface="Arial" panose="020B0604020202020204" pitchFamily="34" charset="0"/>
              <a:buChar char="•"/>
            </a:pPr>
            <a:r>
              <a:rPr lang="id-ID" dirty="0"/>
              <a:t>Produk tas dapat dipromosikan melalui media digital, termasuk SEO, media sosial, dan iklan online yang terintegrasi langsung ke website.</a:t>
            </a:r>
          </a:p>
        </p:txBody>
      </p:sp>
      <p:sp>
        <p:nvSpPr>
          <p:cNvPr id="8" name="TextBox 7">
            <a:extLst>
              <a:ext uri="{FF2B5EF4-FFF2-40B4-BE49-F238E27FC236}">
                <a16:creationId xmlns:a16="http://schemas.microsoft.com/office/drawing/2014/main" id="{BB9D287F-E48A-4B81-8DB7-32BDC162C478}"/>
              </a:ext>
            </a:extLst>
          </p:cNvPr>
          <p:cNvSpPr txBox="1"/>
          <p:nvPr/>
        </p:nvSpPr>
        <p:spPr>
          <a:xfrm>
            <a:off x="5862587" y="5292546"/>
            <a:ext cx="6097604" cy="1200329"/>
          </a:xfrm>
          <a:prstGeom prst="rect">
            <a:avLst/>
          </a:prstGeom>
          <a:noFill/>
        </p:spPr>
        <p:txBody>
          <a:bodyPr wrap="square">
            <a:spAutoFit/>
          </a:bodyPr>
          <a:lstStyle/>
          <a:p>
            <a:r>
              <a:rPr lang="id-ID" dirty="0"/>
              <a:t>3. Efisiensi operasional</a:t>
            </a:r>
          </a:p>
          <a:p>
            <a:pPr marL="285750" indent="-285750">
              <a:buFont typeface="Arial" panose="020B0604020202020204" pitchFamily="34" charset="0"/>
              <a:buChar char="•"/>
            </a:pPr>
            <a:r>
              <a:rPr lang="id-ID" dirty="0"/>
              <a:t>Mengurangi ketergantungan pada toko fisik, sehingga menghemat biaya operasional seperti sewa tempat dan tenaga kerja.</a:t>
            </a:r>
          </a:p>
        </p:txBody>
      </p:sp>
      <p:pic>
        <p:nvPicPr>
          <p:cNvPr id="10" name="Picture 9">
            <a:extLst>
              <a:ext uri="{FF2B5EF4-FFF2-40B4-BE49-F238E27FC236}">
                <a16:creationId xmlns:a16="http://schemas.microsoft.com/office/drawing/2014/main" id="{9D40C3E0-8751-4EEE-9B26-5BD8F35317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66" y="0"/>
            <a:ext cx="4469112" cy="6858000"/>
          </a:xfrm>
          <a:prstGeom prst="rect">
            <a:avLst/>
          </a:prstGeom>
        </p:spPr>
      </p:pic>
    </p:spTree>
    <p:extLst>
      <p:ext uri="{BB962C8B-B14F-4D97-AF65-F5344CB8AC3E}">
        <p14:creationId xmlns:p14="http://schemas.microsoft.com/office/powerpoint/2010/main" val="3817050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rallelogram 2">
            <a:extLst>
              <a:ext uri="{FF2B5EF4-FFF2-40B4-BE49-F238E27FC236}">
                <a16:creationId xmlns:a16="http://schemas.microsoft.com/office/drawing/2014/main" id="{5514E7EA-2AB9-43E9-A4A4-6B7A986C6B4D}"/>
              </a:ext>
            </a:extLst>
          </p:cNvPr>
          <p:cNvSpPr/>
          <p:nvPr/>
        </p:nvSpPr>
        <p:spPr>
          <a:xfrm>
            <a:off x="11034161" y="2998269"/>
            <a:ext cx="1482291" cy="3729789"/>
          </a:xfrm>
          <a:prstGeom prst="parallelogram">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id-ID"/>
          </a:p>
        </p:txBody>
      </p:sp>
      <p:sp>
        <p:nvSpPr>
          <p:cNvPr id="2" name="Parallelogram 1">
            <a:extLst>
              <a:ext uri="{FF2B5EF4-FFF2-40B4-BE49-F238E27FC236}">
                <a16:creationId xmlns:a16="http://schemas.microsoft.com/office/drawing/2014/main" id="{3FFF67C1-2D28-4A07-A52C-B7A28BB254AA}"/>
              </a:ext>
            </a:extLst>
          </p:cNvPr>
          <p:cNvSpPr/>
          <p:nvPr/>
        </p:nvSpPr>
        <p:spPr>
          <a:xfrm>
            <a:off x="11312090" y="-452388"/>
            <a:ext cx="1357162" cy="4512116"/>
          </a:xfrm>
          <a:prstGeom prst="parallelogram">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id-ID"/>
          </a:p>
        </p:txBody>
      </p:sp>
      <p:sp>
        <p:nvSpPr>
          <p:cNvPr id="4" name="TextBox 3">
            <a:extLst>
              <a:ext uri="{FF2B5EF4-FFF2-40B4-BE49-F238E27FC236}">
                <a16:creationId xmlns:a16="http://schemas.microsoft.com/office/drawing/2014/main" id="{32907495-CBAB-4D36-B2AB-373D131A6827}"/>
              </a:ext>
            </a:extLst>
          </p:cNvPr>
          <p:cNvSpPr txBox="1"/>
          <p:nvPr/>
        </p:nvSpPr>
        <p:spPr>
          <a:xfrm>
            <a:off x="998621" y="804057"/>
            <a:ext cx="6097604" cy="923330"/>
          </a:xfrm>
          <a:prstGeom prst="rect">
            <a:avLst/>
          </a:prstGeom>
          <a:noFill/>
        </p:spPr>
        <p:txBody>
          <a:bodyPr wrap="square">
            <a:spAutoFit/>
          </a:bodyPr>
          <a:lstStyle/>
          <a:p>
            <a:r>
              <a:rPr lang="id-ID" dirty="0"/>
              <a:t>4. Penyajian produk yang menarik</a:t>
            </a:r>
          </a:p>
          <a:p>
            <a:pPr marL="285750" indent="-285750">
              <a:buFont typeface="Arial" panose="020B0604020202020204" pitchFamily="34" charset="0"/>
              <a:buChar char="•"/>
            </a:pPr>
            <a:r>
              <a:rPr lang="id-ID" dirty="0"/>
              <a:t>Pelanggan dapat melihat foto produk dengan resolusi tinggi, deskripsi lengkap, dan variasi pilihan (warna, ukuran, dll).</a:t>
            </a:r>
          </a:p>
        </p:txBody>
      </p:sp>
      <p:sp>
        <p:nvSpPr>
          <p:cNvPr id="6" name="TextBox 5">
            <a:extLst>
              <a:ext uri="{FF2B5EF4-FFF2-40B4-BE49-F238E27FC236}">
                <a16:creationId xmlns:a16="http://schemas.microsoft.com/office/drawing/2014/main" id="{32A94E25-6D7F-4DB1-B0AF-DB32A430957B}"/>
              </a:ext>
            </a:extLst>
          </p:cNvPr>
          <p:cNvSpPr txBox="1"/>
          <p:nvPr/>
        </p:nvSpPr>
        <p:spPr>
          <a:xfrm>
            <a:off x="998621" y="2398105"/>
            <a:ext cx="6097604" cy="1200329"/>
          </a:xfrm>
          <a:prstGeom prst="rect">
            <a:avLst/>
          </a:prstGeom>
          <a:noFill/>
        </p:spPr>
        <p:txBody>
          <a:bodyPr wrap="square">
            <a:spAutoFit/>
          </a:bodyPr>
          <a:lstStyle/>
          <a:p>
            <a:r>
              <a:rPr lang="id-ID" dirty="0"/>
              <a:t>5. Peningkatan kepercayaan konsumen</a:t>
            </a:r>
          </a:p>
          <a:p>
            <a:pPr marL="285750" indent="-285750">
              <a:buFont typeface="Arial" panose="020B0604020202020204" pitchFamily="34" charset="0"/>
              <a:buChar char="•"/>
            </a:pPr>
            <a:r>
              <a:rPr lang="id-ID" dirty="0"/>
              <a:t>Dengan tampilan profesional dan fitur seperti testimoni, FAQ, serta kebijakan pengembalian barang, website dapat meningkatkan kepercayaan pembeli</a:t>
            </a:r>
          </a:p>
        </p:txBody>
      </p:sp>
      <p:sp>
        <p:nvSpPr>
          <p:cNvPr id="8" name="TextBox 7">
            <a:extLst>
              <a:ext uri="{FF2B5EF4-FFF2-40B4-BE49-F238E27FC236}">
                <a16:creationId xmlns:a16="http://schemas.microsoft.com/office/drawing/2014/main" id="{3BC0213B-02B8-42A1-A3D9-F082F5FA60D5}"/>
              </a:ext>
            </a:extLst>
          </p:cNvPr>
          <p:cNvSpPr txBox="1"/>
          <p:nvPr/>
        </p:nvSpPr>
        <p:spPr>
          <a:xfrm>
            <a:off x="998621" y="4341690"/>
            <a:ext cx="6097604" cy="1200329"/>
          </a:xfrm>
          <a:prstGeom prst="rect">
            <a:avLst/>
          </a:prstGeom>
          <a:noFill/>
        </p:spPr>
        <p:txBody>
          <a:bodyPr wrap="square">
            <a:spAutoFit/>
          </a:bodyPr>
          <a:lstStyle/>
          <a:p>
            <a:r>
              <a:rPr lang="id-ID" dirty="0"/>
              <a:t>6. Analisis data penjualan</a:t>
            </a:r>
          </a:p>
          <a:p>
            <a:pPr marL="285750" indent="-285750">
              <a:buFont typeface="Arial" panose="020B0604020202020204" pitchFamily="34" charset="0"/>
              <a:buChar char="•"/>
            </a:pPr>
            <a:r>
              <a:rPr lang="id-ID" dirty="0"/>
              <a:t>Website dapat mencatat data transaksi, perilaku pengunjung, dan produk terlaris, yang berguna untuk strategi bisnis ke depan.</a:t>
            </a:r>
          </a:p>
        </p:txBody>
      </p:sp>
      <p:pic>
        <p:nvPicPr>
          <p:cNvPr id="10" name="Picture 9">
            <a:extLst>
              <a:ext uri="{FF2B5EF4-FFF2-40B4-BE49-F238E27FC236}">
                <a16:creationId xmlns:a16="http://schemas.microsoft.com/office/drawing/2014/main" id="{25356F0E-D310-4B01-8142-E4718D1E29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5831" y="611832"/>
            <a:ext cx="3975234" cy="4816816"/>
          </a:xfrm>
          <a:prstGeom prst="rect">
            <a:avLst/>
          </a:prstGeom>
        </p:spPr>
      </p:pic>
    </p:spTree>
    <p:extLst>
      <p:ext uri="{BB962C8B-B14F-4D97-AF65-F5344CB8AC3E}">
        <p14:creationId xmlns:p14="http://schemas.microsoft.com/office/powerpoint/2010/main" val="2497469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BE221-18F2-4001-89EE-7703B465E0DF}"/>
              </a:ext>
            </a:extLst>
          </p:cNvPr>
          <p:cNvSpPr>
            <a:spLocks noGrp="1"/>
          </p:cNvSpPr>
          <p:nvPr>
            <p:ph type="title"/>
          </p:nvPr>
        </p:nvSpPr>
        <p:spPr/>
        <p:txBody>
          <a:bodyPr>
            <a:normAutofit fontScale="90000"/>
          </a:bodyPr>
          <a:lstStyle/>
          <a:p>
            <a:pPr algn="ctr"/>
            <a:r>
              <a:rPr lang="id-ID" dirty="0"/>
              <a:t>FITUR-FIUTUR UTAMA DALAM WEB PENJUALAN TAS </a:t>
            </a:r>
            <a:br>
              <a:rPr lang="id-ID" dirty="0"/>
            </a:br>
            <a:endParaRPr lang="id-ID" dirty="0"/>
          </a:p>
        </p:txBody>
      </p:sp>
      <p:sp>
        <p:nvSpPr>
          <p:cNvPr id="4" name="TextBox 3">
            <a:extLst>
              <a:ext uri="{FF2B5EF4-FFF2-40B4-BE49-F238E27FC236}">
                <a16:creationId xmlns:a16="http://schemas.microsoft.com/office/drawing/2014/main" id="{48A076CB-202B-47DF-83AD-77378A629655}"/>
              </a:ext>
            </a:extLst>
          </p:cNvPr>
          <p:cNvSpPr txBox="1"/>
          <p:nvPr/>
        </p:nvSpPr>
        <p:spPr>
          <a:xfrm>
            <a:off x="838200" y="1690688"/>
            <a:ext cx="6096000" cy="646331"/>
          </a:xfrm>
          <a:prstGeom prst="rect">
            <a:avLst/>
          </a:prstGeom>
          <a:noFill/>
        </p:spPr>
        <p:txBody>
          <a:bodyPr wrap="square">
            <a:spAutoFit/>
          </a:bodyPr>
          <a:lstStyle/>
          <a:p>
            <a:r>
              <a:rPr lang="id-ID"/>
              <a:t>1. Halaman Beranda (Homepage)Menampilkan promosi, produk unggulan, dan navigasi ke kategori utama.</a:t>
            </a:r>
            <a:endParaRPr lang="id-ID" dirty="0"/>
          </a:p>
        </p:txBody>
      </p:sp>
      <p:sp>
        <p:nvSpPr>
          <p:cNvPr id="6" name="TextBox 5">
            <a:extLst>
              <a:ext uri="{FF2B5EF4-FFF2-40B4-BE49-F238E27FC236}">
                <a16:creationId xmlns:a16="http://schemas.microsoft.com/office/drawing/2014/main" id="{7AEEE425-7D4B-44A0-B86C-BE4633FAB10D}"/>
              </a:ext>
            </a:extLst>
          </p:cNvPr>
          <p:cNvSpPr txBox="1"/>
          <p:nvPr/>
        </p:nvSpPr>
        <p:spPr>
          <a:xfrm>
            <a:off x="838200" y="3016251"/>
            <a:ext cx="6096000" cy="646331"/>
          </a:xfrm>
          <a:prstGeom prst="rect">
            <a:avLst/>
          </a:prstGeom>
          <a:noFill/>
        </p:spPr>
        <p:txBody>
          <a:bodyPr wrap="square">
            <a:spAutoFit/>
          </a:bodyPr>
          <a:lstStyle/>
          <a:p>
            <a:r>
              <a:rPr lang="id-ID" dirty="0"/>
              <a:t>2. Manajemen ProdukTambah/edit/hapus produkDeskripsi, harga, foto, stok, dan variasi (warna, ukuran, dll)</a:t>
            </a:r>
          </a:p>
        </p:txBody>
      </p:sp>
      <p:sp>
        <p:nvSpPr>
          <p:cNvPr id="8" name="TextBox 7">
            <a:extLst>
              <a:ext uri="{FF2B5EF4-FFF2-40B4-BE49-F238E27FC236}">
                <a16:creationId xmlns:a16="http://schemas.microsoft.com/office/drawing/2014/main" id="{26A89585-FBCD-4CA0-922A-62BB4FBD144A}"/>
              </a:ext>
            </a:extLst>
          </p:cNvPr>
          <p:cNvSpPr txBox="1"/>
          <p:nvPr/>
        </p:nvSpPr>
        <p:spPr>
          <a:xfrm>
            <a:off x="838200" y="4326107"/>
            <a:ext cx="6096000" cy="646331"/>
          </a:xfrm>
          <a:prstGeom prst="rect">
            <a:avLst/>
          </a:prstGeom>
          <a:noFill/>
        </p:spPr>
        <p:txBody>
          <a:bodyPr wrap="square">
            <a:spAutoFit/>
          </a:bodyPr>
          <a:lstStyle/>
          <a:p>
            <a:r>
              <a:rPr lang="id-ID" dirty="0"/>
              <a:t>3. Kategori ProdukPengelompokan tas berdasarkan jenis (tas selempang, ransel, tas kerja, dll).</a:t>
            </a:r>
          </a:p>
        </p:txBody>
      </p:sp>
      <p:sp>
        <p:nvSpPr>
          <p:cNvPr id="10" name="TextBox 9">
            <a:extLst>
              <a:ext uri="{FF2B5EF4-FFF2-40B4-BE49-F238E27FC236}">
                <a16:creationId xmlns:a16="http://schemas.microsoft.com/office/drawing/2014/main" id="{B4CF5D96-BCC8-4F1D-BEDA-26BD55FCB7A0}"/>
              </a:ext>
            </a:extLst>
          </p:cNvPr>
          <p:cNvSpPr txBox="1"/>
          <p:nvPr/>
        </p:nvSpPr>
        <p:spPr>
          <a:xfrm>
            <a:off x="6096000" y="2337019"/>
            <a:ext cx="6096000" cy="646331"/>
          </a:xfrm>
          <a:prstGeom prst="rect">
            <a:avLst/>
          </a:prstGeom>
          <a:noFill/>
        </p:spPr>
        <p:txBody>
          <a:bodyPr wrap="square">
            <a:spAutoFit/>
          </a:bodyPr>
          <a:lstStyle/>
          <a:p>
            <a:r>
              <a:rPr lang="id-ID" dirty="0"/>
              <a:t>4. Pencarian &amp; Filter ProdukMemudahkan pelanggan menemukan produk berdasarkan kata kunci, harga, warna, dll.</a:t>
            </a:r>
          </a:p>
        </p:txBody>
      </p:sp>
      <p:sp>
        <p:nvSpPr>
          <p:cNvPr id="12" name="TextBox 11">
            <a:extLst>
              <a:ext uri="{FF2B5EF4-FFF2-40B4-BE49-F238E27FC236}">
                <a16:creationId xmlns:a16="http://schemas.microsoft.com/office/drawing/2014/main" id="{939FEAF6-FD5E-432D-8E86-700F6B3AC297}"/>
              </a:ext>
            </a:extLst>
          </p:cNvPr>
          <p:cNvSpPr txBox="1"/>
          <p:nvPr/>
        </p:nvSpPr>
        <p:spPr>
          <a:xfrm>
            <a:off x="6320589" y="3631168"/>
            <a:ext cx="6096000" cy="646331"/>
          </a:xfrm>
          <a:prstGeom prst="rect">
            <a:avLst/>
          </a:prstGeom>
          <a:noFill/>
        </p:spPr>
        <p:txBody>
          <a:bodyPr wrap="square">
            <a:spAutoFit/>
          </a:bodyPr>
          <a:lstStyle/>
          <a:p>
            <a:r>
              <a:rPr lang="id-ID" dirty="0"/>
              <a:t>5. Keranjang Belanja (Shopping Cart)Tempat pelanggan menyimpan produk sebelum checkout.</a:t>
            </a:r>
          </a:p>
        </p:txBody>
      </p:sp>
      <p:sp>
        <p:nvSpPr>
          <p:cNvPr id="14" name="TextBox 13">
            <a:extLst>
              <a:ext uri="{FF2B5EF4-FFF2-40B4-BE49-F238E27FC236}">
                <a16:creationId xmlns:a16="http://schemas.microsoft.com/office/drawing/2014/main" id="{409E30CE-729B-4614-96DF-05C00473B593}"/>
              </a:ext>
            </a:extLst>
          </p:cNvPr>
          <p:cNvSpPr txBox="1"/>
          <p:nvPr/>
        </p:nvSpPr>
        <p:spPr>
          <a:xfrm>
            <a:off x="6276473" y="5167312"/>
            <a:ext cx="6208294" cy="646331"/>
          </a:xfrm>
          <a:prstGeom prst="rect">
            <a:avLst/>
          </a:prstGeom>
          <a:noFill/>
        </p:spPr>
        <p:txBody>
          <a:bodyPr wrap="square">
            <a:spAutoFit/>
          </a:bodyPr>
          <a:lstStyle/>
          <a:p>
            <a:r>
              <a:rPr lang="id-ID" dirty="0"/>
              <a:t>6. Checkout &amp; PembayaranFormulir pengisian alamatMetode pembayaran (transfer bank, e-wallet, payment gateway)</a:t>
            </a:r>
          </a:p>
        </p:txBody>
      </p:sp>
      <p:pic>
        <p:nvPicPr>
          <p:cNvPr id="3" name="Picture 2">
            <a:extLst>
              <a:ext uri="{FF2B5EF4-FFF2-40B4-BE49-F238E27FC236}">
                <a16:creationId xmlns:a16="http://schemas.microsoft.com/office/drawing/2014/main" id="{EF880850-8131-45C5-9170-B66472E30ABF}"/>
              </a:ext>
            </a:extLst>
          </p:cNvPr>
          <p:cNvPicPr>
            <a:picLocks noChangeAspect="1"/>
          </p:cNvPicPr>
          <p:nvPr/>
        </p:nvPicPr>
        <p:blipFill>
          <a:blip r:embed="rId2"/>
          <a:stretch>
            <a:fillRect/>
          </a:stretch>
        </p:blipFill>
        <p:spPr>
          <a:xfrm>
            <a:off x="11075875" y="254860"/>
            <a:ext cx="1851769" cy="1856026"/>
          </a:xfrm>
          <a:prstGeom prst="rect">
            <a:avLst/>
          </a:prstGeom>
        </p:spPr>
      </p:pic>
    </p:spTree>
    <p:extLst>
      <p:ext uri="{BB962C8B-B14F-4D97-AF65-F5344CB8AC3E}">
        <p14:creationId xmlns:p14="http://schemas.microsoft.com/office/powerpoint/2010/main" val="1072329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62BCCD4-E83C-4DD8-953B-070FC07A95A6}"/>
              </a:ext>
            </a:extLst>
          </p:cNvPr>
          <p:cNvSpPr txBox="1"/>
          <p:nvPr/>
        </p:nvSpPr>
        <p:spPr>
          <a:xfrm>
            <a:off x="513347" y="543108"/>
            <a:ext cx="6096000" cy="646331"/>
          </a:xfrm>
          <a:prstGeom prst="rect">
            <a:avLst/>
          </a:prstGeom>
          <a:noFill/>
        </p:spPr>
        <p:txBody>
          <a:bodyPr wrap="square">
            <a:spAutoFit/>
          </a:bodyPr>
          <a:lstStyle/>
          <a:p>
            <a:r>
              <a:rPr lang="id-ID" dirty="0"/>
              <a:t>7. Manajemen Order (Pesanan)Melacak status pesanan: menunggu pembayaran, dikemas, dikirim, selesai.</a:t>
            </a:r>
          </a:p>
        </p:txBody>
      </p:sp>
      <p:sp>
        <p:nvSpPr>
          <p:cNvPr id="5" name="TextBox 4">
            <a:extLst>
              <a:ext uri="{FF2B5EF4-FFF2-40B4-BE49-F238E27FC236}">
                <a16:creationId xmlns:a16="http://schemas.microsoft.com/office/drawing/2014/main" id="{B44A9683-6506-445B-89AF-9BAFDCBB42D1}"/>
              </a:ext>
            </a:extLst>
          </p:cNvPr>
          <p:cNvSpPr txBox="1"/>
          <p:nvPr/>
        </p:nvSpPr>
        <p:spPr>
          <a:xfrm>
            <a:off x="513347" y="1986898"/>
            <a:ext cx="6096000" cy="646331"/>
          </a:xfrm>
          <a:prstGeom prst="rect">
            <a:avLst/>
          </a:prstGeom>
          <a:noFill/>
        </p:spPr>
        <p:txBody>
          <a:bodyPr wrap="square">
            <a:spAutoFit/>
          </a:bodyPr>
          <a:lstStyle/>
          <a:p>
            <a:r>
              <a:rPr lang="id-ID"/>
              <a:t>8. Login &amp; Registrasi PenggunaAkun pengguna untuk menyimpan riwayat pembelian dan data pengiriman.</a:t>
            </a:r>
            <a:endParaRPr lang="id-ID" dirty="0"/>
          </a:p>
        </p:txBody>
      </p:sp>
      <p:sp>
        <p:nvSpPr>
          <p:cNvPr id="7" name="TextBox 6">
            <a:extLst>
              <a:ext uri="{FF2B5EF4-FFF2-40B4-BE49-F238E27FC236}">
                <a16:creationId xmlns:a16="http://schemas.microsoft.com/office/drawing/2014/main" id="{27DB4BBD-DC54-44D0-B444-8A1A7D8CA53E}"/>
              </a:ext>
            </a:extLst>
          </p:cNvPr>
          <p:cNvSpPr txBox="1"/>
          <p:nvPr/>
        </p:nvSpPr>
        <p:spPr>
          <a:xfrm>
            <a:off x="336885" y="3429000"/>
            <a:ext cx="6096000" cy="646331"/>
          </a:xfrm>
          <a:prstGeom prst="rect">
            <a:avLst/>
          </a:prstGeom>
          <a:noFill/>
        </p:spPr>
        <p:txBody>
          <a:bodyPr wrap="square">
            <a:spAutoFit/>
          </a:bodyPr>
          <a:lstStyle/>
          <a:p>
            <a:r>
              <a:rPr lang="id-ID" dirty="0"/>
              <a:t>9. Admin PanelMengelola produk, pesanan, penggunaMelihat laporan penjualan</a:t>
            </a:r>
          </a:p>
        </p:txBody>
      </p:sp>
      <p:sp>
        <p:nvSpPr>
          <p:cNvPr id="9" name="TextBox 8">
            <a:extLst>
              <a:ext uri="{FF2B5EF4-FFF2-40B4-BE49-F238E27FC236}">
                <a16:creationId xmlns:a16="http://schemas.microsoft.com/office/drawing/2014/main" id="{F1FE92F5-4953-4E0E-8E7E-B344DAA9051E}"/>
              </a:ext>
            </a:extLst>
          </p:cNvPr>
          <p:cNvSpPr txBox="1"/>
          <p:nvPr/>
        </p:nvSpPr>
        <p:spPr>
          <a:xfrm>
            <a:off x="336885" y="5115109"/>
            <a:ext cx="6096000" cy="646331"/>
          </a:xfrm>
          <a:prstGeom prst="rect">
            <a:avLst/>
          </a:prstGeom>
          <a:noFill/>
        </p:spPr>
        <p:txBody>
          <a:bodyPr wrap="square">
            <a:spAutoFit/>
          </a:bodyPr>
          <a:lstStyle/>
          <a:p>
            <a:r>
              <a:rPr lang="id-ID" dirty="0"/>
              <a:t>10. Ulasan &amp; Rating ProdukKonsumen bisa memberi testimoni dan bintang untuk produk yang dibeli</a:t>
            </a:r>
          </a:p>
        </p:txBody>
      </p:sp>
      <p:sp>
        <p:nvSpPr>
          <p:cNvPr id="11" name="TextBox 10">
            <a:extLst>
              <a:ext uri="{FF2B5EF4-FFF2-40B4-BE49-F238E27FC236}">
                <a16:creationId xmlns:a16="http://schemas.microsoft.com/office/drawing/2014/main" id="{47FD13DA-58EA-42C3-8100-645DB55EBAF4}"/>
              </a:ext>
            </a:extLst>
          </p:cNvPr>
          <p:cNvSpPr txBox="1"/>
          <p:nvPr/>
        </p:nvSpPr>
        <p:spPr>
          <a:xfrm>
            <a:off x="6096000" y="940993"/>
            <a:ext cx="6096000" cy="646331"/>
          </a:xfrm>
          <a:prstGeom prst="rect">
            <a:avLst/>
          </a:prstGeom>
          <a:noFill/>
        </p:spPr>
        <p:txBody>
          <a:bodyPr wrap="square">
            <a:spAutoFit/>
          </a:bodyPr>
          <a:lstStyle/>
          <a:p>
            <a:r>
              <a:rPr lang="id-ID" dirty="0"/>
              <a:t>11. Notifikasi Email/WhatsAppOtomatisasi pemberitahuan untuk status pesanan atau promo.</a:t>
            </a:r>
          </a:p>
        </p:txBody>
      </p:sp>
      <p:sp>
        <p:nvSpPr>
          <p:cNvPr id="13" name="TextBox 12">
            <a:extLst>
              <a:ext uri="{FF2B5EF4-FFF2-40B4-BE49-F238E27FC236}">
                <a16:creationId xmlns:a16="http://schemas.microsoft.com/office/drawing/2014/main" id="{292C99A2-21F7-4A45-BF56-0FA316E4084D}"/>
              </a:ext>
            </a:extLst>
          </p:cNvPr>
          <p:cNvSpPr txBox="1"/>
          <p:nvPr/>
        </p:nvSpPr>
        <p:spPr>
          <a:xfrm>
            <a:off x="6096000" y="2505098"/>
            <a:ext cx="6096000" cy="646331"/>
          </a:xfrm>
          <a:prstGeom prst="rect">
            <a:avLst/>
          </a:prstGeom>
          <a:noFill/>
        </p:spPr>
        <p:txBody>
          <a:bodyPr wrap="square">
            <a:spAutoFit/>
          </a:bodyPr>
          <a:lstStyle/>
          <a:p>
            <a:r>
              <a:rPr lang="id-ID" dirty="0"/>
              <a:t>12. Responsif &amp; Mobile FriendlyTampilan website menyesuaikan dengan layar HP, tablet, dan desktop.</a:t>
            </a:r>
          </a:p>
        </p:txBody>
      </p:sp>
      <p:sp>
        <p:nvSpPr>
          <p:cNvPr id="15" name="TextBox 14">
            <a:extLst>
              <a:ext uri="{FF2B5EF4-FFF2-40B4-BE49-F238E27FC236}">
                <a16:creationId xmlns:a16="http://schemas.microsoft.com/office/drawing/2014/main" id="{64AA0FBD-FE28-40B7-B5E1-F384A1162363}"/>
              </a:ext>
            </a:extLst>
          </p:cNvPr>
          <p:cNvSpPr txBox="1"/>
          <p:nvPr/>
        </p:nvSpPr>
        <p:spPr>
          <a:xfrm>
            <a:off x="6063915" y="4305621"/>
            <a:ext cx="6096000" cy="646331"/>
          </a:xfrm>
          <a:prstGeom prst="rect">
            <a:avLst/>
          </a:prstGeom>
          <a:noFill/>
        </p:spPr>
        <p:txBody>
          <a:bodyPr wrap="square">
            <a:spAutoFit/>
          </a:bodyPr>
          <a:lstStyle/>
          <a:p>
            <a:r>
              <a:rPr lang="id-ID" dirty="0"/>
              <a:t>13. Keamanan DataProteksi transaksi dan data pengguna dengan SSL dan sistem login aman.</a:t>
            </a:r>
          </a:p>
        </p:txBody>
      </p:sp>
      <p:sp>
        <p:nvSpPr>
          <p:cNvPr id="2" name="Parallelogram 1">
            <a:extLst>
              <a:ext uri="{FF2B5EF4-FFF2-40B4-BE49-F238E27FC236}">
                <a16:creationId xmlns:a16="http://schemas.microsoft.com/office/drawing/2014/main" id="{CC8CFDB0-0A3C-40A6-83AC-E9613231EF06}"/>
              </a:ext>
            </a:extLst>
          </p:cNvPr>
          <p:cNvSpPr/>
          <p:nvPr/>
        </p:nvSpPr>
        <p:spPr>
          <a:xfrm>
            <a:off x="11701111" y="4423107"/>
            <a:ext cx="981777" cy="2987800"/>
          </a:xfrm>
          <a:prstGeom prst="parallelogram">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id-ID"/>
          </a:p>
        </p:txBody>
      </p:sp>
    </p:spTree>
    <p:extLst>
      <p:ext uri="{BB962C8B-B14F-4D97-AF65-F5344CB8AC3E}">
        <p14:creationId xmlns:p14="http://schemas.microsoft.com/office/powerpoint/2010/main" val="1434623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8032F-B556-48FA-9065-D3663673B728}"/>
              </a:ext>
            </a:extLst>
          </p:cNvPr>
          <p:cNvSpPr>
            <a:spLocks noGrp="1"/>
          </p:cNvSpPr>
          <p:nvPr>
            <p:ph type="title"/>
          </p:nvPr>
        </p:nvSpPr>
        <p:spPr/>
        <p:txBody>
          <a:bodyPr/>
          <a:lstStyle/>
          <a:p>
            <a:pPr algn="ctr"/>
            <a:r>
              <a:rPr lang="id-ID" dirty="0"/>
              <a:t>USECASE WEB PENJUALAN TAS </a:t>
            </a:r>
          </a:p>
        </p:txBody>
      </p:sp>
      <p:pic>
        <p:nvPicPr>
          <p:cNvPr id="3" name="Picture 2">
            <a:extLst>
              <a:ext uri="{FF2B5EF4-FFF2-40B4-BE49-F238E27FC236}">
                <a16:creationId xmlns:a16="http://schemas.microsoft.com/office/drawing/2014/main" id="{D1065B42-B32D-49B7-A18D-2ADF60680D3D}"/>
              </a:ext>
            </a:extLst>
          </p:cNvPr>
          <p:cNvPicPr>
            <a:picLocks noChangeAspect="1"/>
          </p:cNvPicPr>
          <p:nvPr/>
        </p:nvPicPr>
        <p:blipFill>
          <a:blip r:embed="rId2"/>
          <a:stretch>
            <a:fillRect/>
          </a:stretch>
        </p:blipFill>
        <p:spPr>
          <a:xfrm>
            <a:off x="838200" y="1690688"/>
            <a:ext cx="4326556" cy="4326556"/>
          </a:xfrm>
          <a:prstGeom prst="rect">
            <a:avLst/>
          </a:prstGeom>
        </p:spPr>
      </p:pic>
      <p:sp>
        <p:nvSpPr>
          <p:cNvPr id="5" name="TextBox 4">
            <a:extLst>
              <a:ext uri="{FF2B5EF4-FFF2-40B4-BE49-F238E27FC236}">
                <a16:creationId xmlns:a16="http://schemas.microsoft.com/office/drawing/2014/main" id="{877892C0-ED8C-48D6-86FB-1705308E22A9}"/>
              </a:ext>
            </a:extLst>
          </p:cNvPr>
          <p:cNvSpPr txBox="1"/>
          <p:nvPr/>
        </p:nvSpPr>
        <p:spPr>
          <a:xfrm>
            <a:off x="5426242" y="1764971"/>
            <a:ext cx="6097604" cy="2308324"/>
          </a:xfrm>
          <a:prstGeom prst="rect">
            <a:avLst/>
          </a:prstGeom>
          <a:noFill/>
        </p:spPr>
        <p:txBody>
          <a:bodyPr wrap="square">
            <a:spAutoFit/>
          </a:bodyPr>
          <a:lstStyle/>
          <a:p>
            <a:r>
              <a:rPr lang="id-ID" dirty="0"/>
              <a:t>Aktor (Pengguna Sistem):</a:t>
            </a:r>
          </a:p>
          <a:p>
            <a:pPr marL="342900" indent="-342900">
              <a:buAutoNum type="arabicPeriod"/>
            </a:pPr>
            <a:r>
              <a:rPr lang="id-ID" dirty="0"/>
              <a:t>Pengunjung:Orang yang mengakses website tanpa login atau mendaftar. Bisa melihat dan mencari produk.</a:t>
            </a:r>
          </a:p>
          <a:p>
            <a:pPr marL="342900" indent="-342900">
              <a:buAutoNum type="arabicPeriod"/>
            </a:pPr>
            <a:r>
              <a:rPr lang="id-ID" dirty="0"/>
              <a:t>Pengguna:Pengunjung yang sudah mendaftar dan login. Bisa menambahkan produk ke keranjang dan melakukan </a:t>
            </a:r>
            <a:r>
              <a:rPr lang="id-ID"/>
              <a:t>pembayaran.</a:t>
            </a:r>
          </a:p>
          <a:p>
            <a:pPr marL="342900" indent="-342900">
              <a:buAutoNum type="arabicPeriod"/>
            </a:pPr>
            <a:r>
              <a:rPr lang="id-ID"/>
              <a:t>Admin</a:t>
            </a:r>
            <a:r>
              <a:rPr lang="id-ID" dirty="0"/>
              <a:t>:Pengelola sistem yang bertanggung jawab atas pengelolaan akun pengguna dan data produk.</a:t>
            </a:r>
          </a:p>
        </p:txBody>
      </p:sp>
      <p:pic>
        <p:nvPicPr>
          <p:cNvPr id="4" name="Picture 3">
            <a:extLst>
              <a:ext uri="{FF2B5EF4-FFF2-40B4-BE49-F238E27FC236}">
                <a16:creationId xmlns:a16="http://schemas.microsoft.com/office/drawing/2014/main" id="{D2ACCC5D-D716-46F1-A73A-54BA8DF54323}"/>
              </a:ext>
            </a:extLst>
          </p:cNvPr>
          <p:cNvPicPr>
            <a:picLocks noChangeAspect="1"/>
          </p:cNvPicPr>
          <p:nvPr/>
        </p:nvPicPr>
        <p:blipFill>
          <a:blip r:embed="rId3"/>
          <a:stretch>
            <a:fillRect/>
          </a:stretch>
        </p:blipFill>
        <p:spPr>
          <a:xfrm>
            <a:off x="10180689" y="4283242"/>
            <a:ext cx="3249817" cy="3233984"/>
          </a:xfrm>
          <a:prstGeom prst="rect">
            <a:avLst/>
          </a:prstGeom>
        </p:spPr>
      </p:pic>
    </p:spTree>
    <p:extLst>
      <p:ext uri="{BB962C8B-B14F-4D97-AF65-F5344CB8AC3E}">
        <p14:creationId xmlns:p14="http://schemas.microsoft.com/office/powerpoint/2010/main" val="2613328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D5585D8-0C00-46CB-8B57-F5100A1B4EC1}"/>
              </a:ext>
            </a:extLst>
          </p:cNvPr>
          <p:cNvSpPr/>
          <p:nvPr/>
        </p:nvSpPr>
        <p:spPr>
          <a:xfrm>
            <a:off x="11353800" y="933602"/>
            <a:ext cx="1472665" cy="400410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id-ID"/>
          </a:p>
        </p:txBody>
      </p:sp>
      <p:pic>
        <p:nvPicPr>
          <p:cNvPr id="3" name="Picture 2">
            <a:extLst>
              <a:ext uri="{FF2B5EF4-FFF2-40B4-BE49-F238E27FC236}">
                <a16:creationId xmlns:a16="http://schemas.microsoft.com/office/drawing/2014/main" id="{97A28055-A50A-4FCE-9B1C-DE1092598874}"/>
              </a:ext>
            </a:extLst>
          </p:cNvPr>
          <p:cNvPicPr>
            <a:picLocks noChangeAspect="1"/>
          </p:cNvPicPr>
          <p:nvPr/>
        </p:nvPicPr>
        <p:blipFill>
          <a:blip r:embed="rId2"/>
          <a:stretch>
            <a:fillRect/>
          </a:stretch>
        </p:blipFill>
        <p:spPr>
          <a:xfrm>
            <a:off x="606391" y="1532823"/>
            <a:ext cx="4956180" cy="4966636"/>
          </a:xfrm>
          <a:prstGeom prst="rect">
            <a:avLst/>
          </a:prstGeom>
        </p:spPr>
      </p:pic>
      <p:sp>
        <p:nvSpPr>
          <p:cNvPr id="4" name="Title 3">
            <a:extLst>
              <a:ext uri="{FF2B5EF4-FFF2-40B4-BE49-F238E27FC236}">
                <a16:creationId xmlns:a16="http://schemas.microsoft.com/office/drawing/2014/main" id="{88B81A35-27C9-419B-B0B8-A222B75E4DB5}"/>
              </a:ext>
            </a:extLst>
          </p:cNvPr>
          <p:cNvSpPr>
            <a:spLocks noGrp="1"/>
          </p:cNvSpPr>
          <p:nvPr>
            <p:ph type="title"/>
          </p:nvPr>
        </p:nvSpPr>
        <p:spPr>
          <a:xfrm>
            <a:off x="838200" y="365126"/>
            <a:ext cx="10515600" cy="741779"/>
          </a:xfrm>
        </p:spPr>
        <p:txBody>
          <a:bodyPr/>
          <a:lstStyle/>
          <a:p>
            <a:pPr algn="ctr"/>
            <a:r>
              <a:rPr lang="id-ID" dirty="0"/>
              <a:t>Proses Bisnis web penjualan Tas</a:t>
            </a:r>
          </a:p>
        </p:txBody>
      </p:sp>
      <p:pic>
        <p:nvPicPr>
          <p:cNvPr id="5" name="Picture 4">
            <a:extLst>
              <a:ext uri="{FF2B5EF4-FFF2-40B4-BE49-F238E27FC236}">
                <a16:creationId xmlns:a16="http://schemas.microsoft.com/office/drawing/2014/main" id="{95DB42EE-EBA4-4373-A322-253FEB230CE7}"/>
              </a:ext>
            </a:extLst>
          </p:cNvPr>
          <p:cNvPicPr>
            <a:picLocks noChangeAspect="1"/>
          </p:cNvPicPr>
          <p:nvPr/>
        </p:nvPicPr>
        <p:blipFill>
          <a:blip r:embed="rId3"/>
          <a:stretch>
            <a:fillRect/>
          </a:stretch>
        </p:blipFill>
        <p:spPr>
          <a:xfrm>
            <a:off x="7604576" y="1604964"/>
            <a:ext cx="3981033" cy="4822354"/>
          </a:xfrm>
          <a:prstGeom prst="rect">
            <a:avLst/>
          </a:prstGeom>
        </p:spPr>
      </p:pic>
      <p:sp>
        <p:nvSpPr>
          <p:cNvPr id="7" name="Rectangle 6">
            <a:extLst>
              <a:ext uri="{FF2B5EF4-FFF2-40B4-BE49-F238E27FC236}">
                <a16:creationId xmlns:a16="http://schemas.microsoft.com/office/drawing/2014/main" id="{7EFEFC90-8B65-45DC-A71A-B9BC9C36F124}"/>
              </a:ext>
            </a:extLst>
          </p:cNvPr>
          <p:cNvSpPr/>
          <p:nvPr/>
        </p:nvSpPr>
        <p:spPr>
          <a:xfrm>
            <a:off x="10704249" y="430682"/>
            <a:ext cx="2975502" cy="74178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id-ID"/>
          </a:p>
        </p:txBody>
      </p:sp>
    </p:spTree>
    <p:extLst>
      <p:ext uri="{BB962C8B-B14F-4D97-AF65-F5344CB8AC3E}">
        <p14:creationId xmlns:p14="http://schemas.microsoft.com/office/powerpoint/2010/main" val="1507035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CFF4E6-69C6-4DED-BF1E-42EB0E93AC1C}"/>
              </a:ext>
            </a:extLst>
          </p:cNvPr>
          <p:cNvPicPr>
            <a:picLocks noChangeAspect="1"/>
          </p:cNvPicPr>
          <p:nvPr/>
        </p:nvPicPr>
        <p:blipFill>
          <a:blip r:embed="rId2"/>
          <a:stretch>
            <a:fillRect/>
          </a:stretch>
        </p:blipFill>
        <p:spPr>
          <a:xfrm>
            <a:off x="3667225" y="1090061"/>
            <a:ext cx="4677878" cy="4677878"/>
          </a:xfrm>
          <a:prstGeom prst="rect">
            <a:avLst/>
          </a:prstGeom>
        </p:spPr>
      </p:pic>
    </p:spTree>
    <p:extLst>
      <p:ext uri="{BB962C8B-B14F-4D97-AF65-F5344CB8AC3E}">
        <p14:creationId xmlns:p14="http://schemas.microsoft.com/office/powerpoint/2010/main" val="230948049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F46216B-77A9-411A-B9D3-5023FCB70208}"/>
    </a:ext>
  </a:extLst>
</a:theme>
</file>

<file path=docProps/app.xml><?xml version="1.0" encoding="utf-8"?>
<Properties xmlns="http://schemas.openxmlformats.org/officeDocument/2006/extended-properties" xmlns:vt="http://schemas.openxmlformats.org/officeDocument/2006/docPropsVTypes">
  <Template>Office Theme</Template>
  <TotalTime>69</TotalTime>
  <Words>688</Words>
  <Application>Microsoft Office PowerPoint</Application>
  <PresentationFormat>Widescreen</PresentationFormat>
  <Paragraphs>44</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Adobe Garamond Pro Bold</vt:lpstr>
      <vt:lpstr>Arial</vt:lpstr>
      <vt:lpstr>Calibri</vt:lpstr>
      <vt:lpstr>Calibri Light</vt:lpstr>
      <vt:lpstr>Wingdings</vt:lpstr>
      <vt:lpstr>Office Theme</vt:lpstr>
      <vt:lpstr>PowerPoint Presentation</vt:lpstr>
      <vt:lpstr>LATAR BELAKANG WEB PENJUALAN TAS </vt:lpstr>
      <vt:lpstr>Tujuan Web Penjualan Tas</vt:lpstr>
      <vt:lpstr>PowerPoint Presentation</vt:lpstr>
      <vt:lpstr>Manfaat Web Penjualan Tas</vt:lpstr>
      <vt:lpstr>PowerPoint Presentation</vt:lpstr>
      <vt:lpstr>FITUR-FIUTUR UTAMA DALAM WEB PENJUALAN TAS  </vt:lpstr>
      <vt:lpstr>PowerPoint Presentation</vt:lpstr>
      <vt:lpstr>USECASE WEB PENJUALAN TAS </vt:lpstr>
      <vt:lpstr>Proses Bisnis web penjualan Tas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customer 131022</dc:creator>
  <cp:lastModifiedBy>customer 131022</cp:lastModifiedBy>
  <cp:revision>6</cp:revision>
  <dcterms:created xsi:type="dcterms:W3CDTF">2025-04-23T02:25:59Z</dcterms:created>
  <dcterms:modified xsi:type="dcterms:W3CDTF">2025-04-30T02:50:31Z</dcterms:modified>
</cp:coreProperties>
</file>